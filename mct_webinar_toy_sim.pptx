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/>
          <p:cNvSpPr/>
          <p:nvPr/>
        </p:nvSpPr>
        <p:spPr>
          <a:xfrm>
            <a:off x="0" y="658368"/>
            <a:ext cx="182880" cy="1417320"/>
          </a:xfrm>
          <a:prstGeom prst="rect">
            <a:avLst/>
          </a:prstGeom>
          <a:solidFill>
            <a:srgbClr val="662D91"/>
          </a:solidFill>
          <a:ln w="12700">
            <a:solidFill>
              <a:srgbClr val="662D9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6400800"/>
            <a:ext cx="10972800" cy="9525"/>
          </a:xfrm>
          <a:prstGeom prst="line">
            <a:avLst/>
          </a:prstGeom>
          <a:noFill/>
          <a:ln w="12700">
            <a:solidFill>
              <a:srgbClr val="F3F4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451092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BROOKS </a:t>
            </a:r>
            <a:pPr indent="0" marL="0">
              <a:buNone/>
            </a:pPr>
            <a:r>
              <a:rPr lang="en-US" sz="1700" b="1" dirty="0">
                <a:solidFill>
                  <a:srgbClr val="662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PHOTONICS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778240" y="6469380"/>
            <a:ext cx="2743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www.brooks-photonics.com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96112" y="164592"/>
            <a:ext cx="4572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62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WEBINAR | 01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96112" y="402336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simulator is</a:t>
            </a:r>
            <a:endParaRPr lang="en-US" sz="2450" dirty="0"/>
          </a:p>
        </p:txBody>
      </p:sp>
      <p:sp>
        <p:nvSpPr>
          <p:cNvPr id="11" name="Text 9"/>
          <p:cNvSpPr/>
          <p:nvPr/>
        </p:nvSpPr>
        <p:spPr>
          <a:xfrm>
            <a:off x="896112" y="768096"/>
            <a:ext cx="9875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virtual MCT photoconductor test and measurement bench for learning how controls map to observable outputs.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94360" y="1234440"/>
            <a:ext cx="11018520" cy="4846320"/>
          </a:xfrm>
          <a:prstGeom prst="roundRect">
            <a:avLst>
              <a:gd name="adj" fmla="val 2264"/>
            </a:avLst>
          </a:prstGeom>
          <a:solidFill>
            <a:srgbClr val="FAFA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83880" y="1536192"/>
            <a:ext cx="297180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83880" y="3529584"/>
            <a:ext cx="297180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96112" y="1481328"/>
            <a:ext cx="1627632" cy="256032"/>
          </a:xfrm>
          <a:prstGeom prst="roundRect">
            <a:avLst>
              <a:gd name="adj" fmla="val 17857"/>
            </a:avLst>
          </a:prstGeom>
          <a:solidFill>
            <a:srgbClr val="F4EEF9"/>
          </a:solidFill>
          <a:ln w="12700">
            <a:solidFill>
              <a:srgbClr val="F4EEF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24128" y="1531620"/>
            <a:ext cx="1371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62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ORIENTATION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8394192" y="1700784"/>
            <a:ext cx="2377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62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ACTION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394192" y="3694176"/>
            <a:ext cx="2377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62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60120" y="1828800"/>
            <a:ext cx="6903720" cy="2926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30" b="1" dirty="0">
                <a:solidFill>
                  <a:srgbClr val="662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indent="0" marL="0">
              <a:buNone/>
            </a:pPr>
            <a:r>
              <a:rPr lang="en-US" sz="163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Instrument-centered environment: Spectrum Analyzer, Oscilloscope, and I-V Characteristics.</a:t>
            </a:r>
            <a:pPr indent="0" marL="0">
              <a:buNone/>
            </a:pPr>
            <a:r>
              <a:rPr lang="en-US" sz="163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buNone/>
            </a:pPr>
            <a:r>
              <a:rPr lang="en-US" sz="1630" b="1" dirty="0">
                <a:solidFill>
                  <a:srgbClr val="662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indent="0" marL="0">
              <a:buNone/>
            </a:pPr>
            <a:r>
              <a:rPr lang="en-US" sz="163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 controls mirror real setup decisions: bias, temperature, BB cover, chopper, grounding, and preamp.</a:t>
            </a:r>
            <a:pPr indent="0" marL="0">
              <a:buNone/>
            </a:pPr>
            <a:r>
              <a:rPr lang="en-US" sz="163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buNone/>
            </a:pPr>
            <a:r>
              <a:rPr lang="en-US" sz="1630" b="1" dirty="0">
                <a:solidFill>
                  <a:srgbClr val="662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indent="0" marL="0">
              <a:buNone/>
            </a:pPr>
            <a:r>
              <a:rPr lang="en-US" sz="163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session is about measurement interpretation: control -&gt; measurement -&gt; interpretation.</a:t>
            </a:r>
            <a:pPr indent="0" marL="0">
              <a:buNone/>
            </a:pPr>
            <a:r>
              <a:rPr lang="en-US" sz="163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buNone/>
            </a:pPr>
            <a:r>
              <a:rPr lang="en-US" sz="1630" b="1" dirty="0">
                <a:solidFill>
                  <a:srgbClr val="662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indent="0" marL="0">
              <a:buNone/>
            </a:pPr>
            <a:r>
              <a:rPr lang="en-US" sz="163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not the rigorous FEniCS model. It is a webinar-grade training tool built around bench behavior.</a:t>
            </a:r>
            <a:endParaRPr lang="en-US" sz="1630" dirty="0"/>
          </a:p>
        </p:txBody>
      </p:sp>
      <p:sp>
        <p:nvSpPr>
          <p:cNvPr id="20" name="Text 18"/>
          <p:cNvSpPr/>
          <p:nvPr/>
        </p:nvSpPr>
        <p:spPr>
          <a:xfrm>
            <a:off x="8394192" y="1975104"/>
            <a:ext cx="2423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the simulator and identify the sidebar controls, instrument tabs, and telemetry readouts.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394192" y="3959352"/>
            <a:ext cx="2423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 the utility like a virtual test bench. Every slide should connect a user action to a measurable consequence.</a:t>
            </a:r>
            <a:endParaRPr lang="en-US" sz="1280" dirty="0"/>
          </a:p>
        </p:txBody>
      </p:sp>
      <p:sp>
        <p:nvSpPr>
          <p:cNvPr id="22" name="Shape 20"/>
          <p:cNvSpPr/>
          <p:nvPr/>
        </p:nvSpPr>
        <p:spPr>
          <a:xfrm>
            <a:off x="960120" y="4526280"/>
            <a:ext cx="20574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06424" y="4663440"/>
            <a:ext cx="1645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</a:rPr>
              <a:t>Detector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106424" y="4882896"/>
            <a:ext cx="1755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B5563"/>
                </a:solidFill>
              </a:rPr>
              <a:t>Bias and temperature set the operating point.</a:t>
            </a:r>
            <a:endParaRPr lang="en-US" sz="1020" dirty="0"/>
          </a:p>
        </p:txBody>
      </p:sp>
      <p:sp>
        <p:nvSpPr>
          <p:cNvPr id="25" name="Shape 23"/>
          <p:cNvSpPr/>
          <p:nvPr/>
        </p:nvSpPr>
        <p:spPr>
          <a:xfrm>
            <a:off x="3337560" y="4526280"/>
            <a:ext cx="20574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83864" y="4663440"/>
            <a:ext cx="1645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</a:rPr>
              <a:t>Optical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3483864" y="4882896"/>
            <a:ext cx="1755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B5563"/>
                </a:solidFill>
              </a:rPr>
              <a:t>BB cover and chopper define the signal injection.</a:t>
            </a:r>
            <a:endParaRPr lang="en-US" sz="1020" dirty="0"/>
          </a:p>
        </p:txBody>
      </p:sp>
      <p:sp>
        <p:nvSpPr>
          <p:cNvPr id="28" name="Shape 26"/>
          <p:cNvSpPr/>
          <p:nvPr/>
        </p:nvSpPr>
        <p:spPr>
          <a:xfrm>
            <a:off x="5715000" y="4526280"/>
            <a:ext cx="20574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61304" y="4663440"/>
            <a:ext cx="1645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</a:rPr>
              <a:t>Readout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5861304" y="4882896"/>
            <a:ext cx="1755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B5563"/>
                </a:solidFill>
              </a:rPr>
              <a:t>Grounding, preamp, scope, and spectrum determine what you actually see.</a:t>
            </a:r>
            <a:endParaRPr lang="en-US" sz="10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/>
          <p:cNvSpPr/>
          <p:nvPr/>
        </p:nvSpPr>
        <p:spPr>
          <a:xfrm>
            <a:off x="0" y="658368"/>
            <a:ext cx="182880" cy="1417320"/>
          </a:xfrm>
          <a:prstGeom prst="rect">
            <a:avLst/>
          </a:prstGeom>
          <a:solidFill>
            <a:srgbClr val="662D91"/>
          </a:solidFill>
          <a:ln w="12700">
            <a:solidFill>
              <a:srgbClr val="662D9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6400800"/>
            <a:ext cx="10972800" cy="9525"/>
          </a:xfrm>
          <a:prstGeom prst="line">
            <a:avLst/>
          </a:prstGeom>
          <a:noFill/>
          <a:ln w="12700">
            <a:solidFill>
              <a:srgbClr val="F3F4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451092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BROOKS </a:t>
            </a:r>
            <a:pPr indent="0" marL="0">
              <a:buNone/>
            </a:pPr>
            <a:r>
              <a:rPr lang="en-US" sz="1700" b="1" dirty="0">
                <a:solidFill>
                  <a:srgbClr val="662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PHOTONICS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778240" y="6469380"/>
            <a:ext cx="2743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www.brooks-photonics.com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96112" y="164592"/>
            <a:ext cx="4572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62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WEBINAR | 02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96112" y="402336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Dark resistance is the first extraction</a:t>
            </a:r>
            <a:endParaRPr lang="en-US" sz="2450" dirty="0"/>
          </a:p>
        </p:txBody>
      </p:sp>
      <p:sp>
        <p:nvSpPr>
          <p:cNvPr id="11" name="Text 9"/>
          <p:cNvSpPr/>
          <p:nvPr/>
        </p:nvSpPr>
        <p:spPr>
          <a:xfrm>
            <a:off x="896112" y="768096"/>
            <a:ext cx="9875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Begin with the most familiar quantity: the covered detector current under bias.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94360" y="1234440"/>
            <a:ext cx="11018520" cy="4846320"/>
          </a:xfrm>
          <a:prstGeom prst="roundRect">
            <a:avLst>
              <a:gd name="adj" fmla="val 2264"/>
            </a:avLst>
          </a:prstGeom>
          <a:solidFill>
            <a:srgbClr val="FAFA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83880" y="1536192"/>
            <a:ext cx="297180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83880" y="3529584"/>
            <a:ext cx="297180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96112" y="1481328"/>
            <a:ext cx="1627632" cy="256032"/>
          </a:xfrm>
          <a:prstGeom prst="roundRect">
            <a:avLst>
              <a:gd name="adj" fmla="val 17857"/>
            </a:avLst>
          </a:prstGeom>
          <a:solidFill>
            <a:srgbClr val="F4EEF9"/>
          </a:solidFill>
          <a:ln w="12700">
            <a:solidFill>
              <a:srgbClr val="F4EEF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24128" y="1531620"/>
            <a:ext cx="1371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62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8394192" y="1700784"/>
            <a:ext cx="2377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62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ACTION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394192" y="3694176"/>
            <a:ext cx="2377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62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60120" y="1828800"/>
            <a:ext cx="6903720" cy="2926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30" b="1" dirty="0">
                <a:solidFill>
                  <a:srgbClr val="662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indent="0" marL="0">
              <a:buNone/>
            </a:pPr>
            <a:r>
              <a:rPr lang="en-US" sz="163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 the detector so the optical contribution is removed and only the dark electrical state remains.</a:t>
            </a:r>
            <a:pPr indent="0" marL="0">
              <a:buNone/>
            </a:pPr>
            <a:r>
              <a:rPr lang="en-US" sz="163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buNone/>
            </a:pPr>
            <a:r>
              <a:rPr lang="en-US" sz="1630" b="1" dirty="0">
                <a:solidFill>
                  <a:srgbClr val="662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indent="0" marL="0">
              <a:buNone/>
            </a:pPr>
            <a:r>
              <a:rPr lang="en-US" sz="163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a bias point, read voltage and current, and compute dark resistance from the bench quantities.</a:t>
            </a:r>
            <a:pPr indent="0" marL="0">
              <a:buNone/>
            </a:pPr>
            <a:r>
              <a:rPr lang="en-US" sz="163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buNone/>
            </a:pPr>
            <a:r>
              <a:rPr lang="en-US" sz="1630" b="1" dirty="0">
                <a:solidFill>
                  <a:srgbClr val="662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indent="0" marL="0">
              <a:buNone/>
            </a:pPr>
            <a:r>
              <a:rPr lang="en-US" sz="163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the correct first-pass extraction because it does not rely on hidden simulator constants.</a:t>
            </a:r>
            <a:pPr indent="0" marL="0">
              <a:buNone/>
            </a:pPr>
            <a:r>
              <a:rPr lang="en-US" sz="163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buNone/>
            </a:pPr>
            <a:r>
              <a:rPr lang="en-US" sz="1630" b="1" dirty="0">
                <a:solidFill>
                  <a:srgbClr val="662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indent="0" marL="0">
              <a:buNone/>
            </a:pPr>
            <a:r>
              <a:rPr lang="en-US" sz="163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output is immediately interpretable as a device-plus-setup electrical operating point.</a:t>
            </a:r>
            <a:endParaRPr lang="en-US" sz="1630" dirty="0"/>
          </a:p>
        </p:txBody>
      </p:sp>
      <p:sp>
        <p:nvSpPr>
          <p:cNvPr id="20" name="Text 18"/>
          <p:cNvSpPr/>
          <p:nvPr/>
        </p:nvSpPr>
        <p:spPr>
          <a:xfrm>
            <a:off x="8394192" y="1975104"/>
            <a:ext cx="2423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BB cover closed. Measure V and I at one bias point and calculate R_dark.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394192" y="3959352"/>
            <a:ext cx="2423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from what is directly measurable. The first lesson is not hidden physics - it is disciplined extraction from bench observables.</a:t>
            </a:r>
            <a:endParaRPr lang="en-US" sz="1280" dirty="0"/>
          </a:p>
        </p:txBody>
      </p:sp>
      <p:sp>
        <p:nvSpPr>
          <p:cNvPr id="22" name="Shape 20"/>
          <p:cNvSpPr/>
          <p:nvPr/>
        </p:nvSpPr>
        <p:spPr>
          <a:xfrm>
            <a:off x="1051560" y="4572000"/>
            <a:ext cx="210312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61288" y="4672584"/>
            <a:ext cx="18836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5022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R_dark = V / I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ns2="http://schemas.microsoft.com/office/powerpoint/2010/main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/>
          <p:cNvSpPr/>
          <p:nvPr/>
        </p:nvSpPr>
        <p:spPr>
          <a:xfrm>
            <a:off x="0" y="658368"/>
            <a:ext cx="182880" cy="1417320"/>
          </a:xfrm>
          <a:prstGeom prst="rect">
            <a:avLst/>
          </a:prstGeom>
          <a:solidFill>
            <a:srgbClr val="662D91"/>
          </a:solidFill>
          <a:ln w="12700">
            <a:solidFill>
              <a:srgbClr val="662D9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6400800"/>
            <a:ext cx="10972800" cy="9525"/>
          </a:xfrm>
          <a:prstGeom prst="line">
            <a:avLst/>
          </a:prstGeom>
          <a:noFill/>
          <a:ln w="12700">
            <a:solidFill>
              <a:srgbClr val="F3F4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451092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BROOKS </a:t>
            </a:r>
            <a:pPr indent="0" marL="0">
              <a:buNone/>
            </a:pPr>
            <a:r>
              <a:rPr lang="en-US" sz="1700" b="1" dirty="0">
                <a:solidFill>
                  <a:srgbClr val="662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PHOTONICS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778240" y="6469380"/>
            <a:ext cx="2743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www.brooks-photonics.com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96112" y="164592"/>
            <a:ext cx="4572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62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WEBINAR | 03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96112" y="402336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Ohmic region versus nonlinearity</a:t>
            </a:r>
            <a:endParaRPr lang="en-US" sz="2450" dirty="0"/>
          </a:p>
        </p:txBody>
      </p:sp>
      <p:sp>
        <p:nvSpPr>
          <p:cNvPr id="11" name="Text 9"/>
          <p:cNvSpPr/>
          <p:nvPr/>
        </p:nvSpPr>
        <p:spPr>
          <a:xfrm>
            <a:off x="896112" y="768096"/>
            <a:ext cx="9875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 the dark-resistance calculation across low bias and ask whether the detector is approximately ohmic.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94360" y="1234440"/>
            <a:ext cx="11018520" cy="4846320"/>
          </a:xfrm>
          <a:prstGeom prst="roundRect">
            <a:avLst>
              <a:gd name="adj" fmla="val 2264"/>
            </a:avLst>
          </a:prstGeom>
          <a:solidFill>
            <a:srgbClr val="FAFA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83880" y="1536192"/>
            <a:ext cx="297180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83880" y="3529584"/>
            <a:ext cx="297180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96112" y="1481328"/>
            <a:ext cx="1627632" cy="256032"/>
          </a:xfrm>
          <a:prstGeom prst="roundRect">
            <a:avLst>
              <a:gd name="adj" fmla="val 17857"/>
            </a:avLst>
          </a:prstGeom>
          <a:solidFill>
            <a:srgbClr val="F4EEF9"/>
          </a:solidFill>
          <a:ln w="12700">
            <a:solidFill>
              <a:srgbClr val="F4EEF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24128" y="1531620"/>
            <a:ext cx="1371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62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LOW-BIAS CHECK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8394192" y="1700784"/>
            <a:ext cx="2377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62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ACTION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394192" y="3694176"/>
            <a:ext cx="2377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62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60120" y="1828800"/>
            <a:ext cx="4526280" cy="2697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580" b="1" dirty="0">
                <a:solidFill>
                  <a:srgbClr val="662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indent="0" marL="0">
              <a:buNone/>
            </a:pPr>
            <a:r>
              <a:rPr lang="en-US" sz="15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same covered-detector procedure at several bias points rather than trusting a single number.</a:t>
            </a:r>
            <a:pPr indent="0" marL="0">
              <a:buNone/>
            </a:pPr>
            <a:r>
              <a:rPr lang="en-US" sz="15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buNone/>
            </a:pPr>
            <a:r>
              <a:rPr lang="en-US" sz="1580" b="1" dirty="0">
                <a:solidFill>
                  <a:srgbClr val="662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indent="0" marL="0">
              <a:buNone/>
            </a:pPr>
            <a:r>
              <a:rPr lang="en-US" sz="15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R_dark stays nearly constant, the device is approximately ohmic in that operating region.</a:t>
            </a:r>
            <a:pPr indent="0" marL="0">
              <a:buNone/>
            </a:pPr>
            <a:r>
              <a:rPr lang="en-US" sz="15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buNone/>
            </a:pPr>
            <a:r>
              <a:rPr lang="en-US" sz="1580" b="1" dirty="0">
                <a:solidFill>
                  <a:srgbClr val="662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indent="0" marL="0">
              <a:buNone/>
            </a:pPr>
            <a:r>
              <a:rPr lang="en-US" sz="15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R_dark drifts strongly with bias, nonlinearity or measurement-chain effects are becoming important.</a:t>
            </a:r>
            <a:pPr indent="0" marL="0">
              <a:buNone/>
            </a:pPr>
            <a:r>
              <a:rPr lang="en-US" sz="15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buNone/>
            </a:pPr>
            <a:r>
              <a:rPr lang="en-US" sz="1580" b="1" dirty="0">
                <a:solidFill>
                  <a:srgbClr val="662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indent="0" marL="0">
              <a:buNone/>
            </a:pPr>
            <a:r>
              <a:rPr lang="en-US" sz="15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the webinar toy model, the updated low-bias trend is intentionally mild and more bench-like.</a:t>
            </a:r>
            <a:endParaRPr lang="en-US" sz="158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ns2:modId val="1579011935"/>
              </p:ext>
            </p:extLst>
          </p:nvPr>
        </p:nvGraphicFramePr>
        <p:xfrm>
          <a:off x="4892040" y="1856232"/>
          <a:ext cx="3035808" cy="914400"/>
        </p:xfrm>
        <a:graphic>
          <a:graphicData uri="http://schemas.openxmlformats.org/drawingml/2006/table">
            <a:tbl>
              <a:tblPr/>
              <a:tblGrid>
                <a:gridCol w="685800"/>
                <a:gridCol w="822960"/>
                <a:gridCol w="132588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662D9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Bias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662D9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R_dark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662D9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Interpretation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 V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24.7 Ω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approx. ohmic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 V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25.0 Ω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approx. ohmic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 V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25.5 Ω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mild curvature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Shape 18"/>
          <p:cNvSpPr/>
          <p:nvPr/>
        </p:nvSpPr>
        <p:spPr>
          <a:xfrm>
            <a:off x="5166360" y="3931920"/>
            <a:ext cx="187452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276088" y="4032504"/>
            <a:ext cx="1655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5022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R_dark = V / I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8394192" y="1975104"/>
            <a:ext cx="2423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 R_dark at 0.5, 1.0, and 1.5 V and compare the spread.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8394192" y="3959352"/>
            <a:ext cx="2423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resistance value is also a linearity diagnostic. The right question is not only “what is R?” but “does R stay stable with bias?”</a:t>
            </a:r>
            <a:endParaRPr lang="en-US" sz="12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ns2="http://schemas.microsoft.com/office/powerpoint/2010/main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/>
          <p:cNvSpPr/>
          <p:nvPr/>
        </p:nvSpPr>
        <p:spPr>
          <a:xfrm>
            <a:off x="0" y="658368"/>
            <a:ext cx="182880" cy="1417320"/>
          </a:xfrm>
          <a:prstGeom prst="rect">
            <a:avLst/>
          </a:prstGeom>
          <a:solidFill>
            <a:srgbClr val="662D91"/>
          </a:solidFill>
          <a:ln w="12700">
            <a:solidFill>
              <a:srgbClr val="662D9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6400800"/>
            <a:ext cx="10972800" cy="9525"/>
          </a:xfrm>
          <a:prstGeom prst="line">
            <a:avLst/>
          </a:prstGeom>
          <a:noFill/>
          <a:ln w="12700">
            <a:solidFill>
              <a:srgbClr val="F3F4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451092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BROOKS </a:t>
            </a:r>
            <a:pPr indent="0" marL="0">
              <a:buNone/>
            </a:pPr>
            <a:r>
              <a:rPr lang="en-US" sz="1700" b="1" dirty="0">
                <a:solidFill>
                  <a:srgbClr val="662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PHOTONICS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778240" y="6469380"/>
            <a:ext cx="2743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www.brooks-photonics.com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96112" y="164592"/>
            <a:ext cx="4572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62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WEBINAR | 04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96112" y="402336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Temperature changes dark behavior</a:t>
            </a:r>
            <a:endParaRPr lang="en-US" sz="2450" dirty="0"/>
          </a:p>
        </p:txBody>
      </p:sp>
      <p:sp>
        <p:nvSpPr>
          <p:cNvPr id="11" name="Text 9"/>
          <p:cNvSpPr/>
          <p:nvPr/>
        </p:nvSpPr>
        <p:spPr>
          <a:xfrm>
            <a:off x="896112" y="768096"/>
            <a:ext cx="9875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Detector electrical behavior is not fixed - it changes with operating temperature.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94360" y="1234440"/>
            <a:ext cx="11018520" cy="4846320"/>
          </a:xfrm>
          <a:prstGeom prst="roundRect">
            <a:avLst>
              <a:gd name="adj" fmla="val 2264"/>
            </a:avLst>
          </a:prstGeom>
          <a:solidFill>
            <a:srgbClr val="FAFA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83880" y="1536192"/>
            <a:ext cx="297180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83880" y="3529584"/>
            <a:ext cx="297180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96112" y="1481328"/>
            <a:ext cx="1627632" cy="256032"/>
          </a:xfrm>
          <a:prstGeom prst="roundRect">
            <a:avLst>
              <a:gd name="adj" fmla="val 17857"/>
            </a:avLst>
          </a:prstGeom>
          <a:solidFill>
            <a:srgbClr val="F4EEF9"/>
          </a:solidFill>
          <a:ln w="12700">
            <a:solidFill>
              <a:srgbClr val="F4EEF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24128" y="1531620"/>
            <a:ext cx="1371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62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TEMPERATURE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8394192" y="1700784"/>
            <a:ext cx="2377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62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ACTION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394192" y="3694176"/>
            <a:ext cx="2377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62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60120" y="1828800"/>
            <a:ext cx="4663440" cy="2743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580" b="1" dirty="0">
                <a:solidFill>
                  <a:srgbClr val="662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indent="0" marL="0">
              <a:buNone/>
            </a:pPr>
            <a:r>
              <a:rPr lang="en-US" sz="15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 the covered-detector check at room temperature and at 77 K.</a:t>
            </a:r>
            <a:pPr indent="0" marL="0">
              <a:buNone/>
            </a:pPr>
            <a:r>
              <a:rPr lang="en-US" sz="15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buNone/>
            </a:pPr>
            <a:r>
              <a:rPr lang="en-US" sz="1580" b="1" dirty="0">
                <a:solidFill>
                  <a:srgbClr val="662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indent="0" marL="0">
              <a:buNone/>
            </a:pPr>
            <a:r>
              <a:rPr lang="en-US" sz="15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Dark resistance and the noise floor both depend on temperature, so operating point is temperature specific.</a:t>
            </a:r>
            <a:pPr indent="0" marL="0">
              <a:buNone/>
            </a:pPr>
            <a:r>
              <a:rPr lang="en-US" sz="15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buNone/>
            </a:pPr>
            <a:r>
              <a:rPr lang="en-US" sz="1580" b="1" dirty="0">
                <a:solidFill>
                  <a:srgbClr val="662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indent="0" marL="0">
              <a:buNone/>
            </a:pPr>
            <a:r>
              <a:rPr lang="en-US" sz="15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Colder operation typically shifts the detector into a cleaner electrical state and lowers Johnson-type voltage noise.</a:t>
            </a:r>
            <a:pPr indent="0" marL="0">
              <a:buNone/>
            </a:pPr>
            <a:r>
              <a:rPr lang="en-US" sz="15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buNone/>
            </a:pPr>
            <a:r>
              <a:rPr lang="en-US" sz="1580" b="1" dirty="0">
                <a:solidFill>
                  <a:srgbClr val="662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indent="0" marL="0">
              <a:buNone/>
            </a:pPr>
            <a:r>
              <a:rPr lang="en-US" sz="15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why cryogenic detector measurements must always be interpreted together with temperature.</a:t>
            </a:r>
            <a:endParaRPr lang="en-US" sz="158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ns2:modId val="1579011935"/>
              </p:ext>
            </p:extLst>
          </p:nvPr>
        </p:nvGraphicFramePr>
        <p:xfrm>
          <a:off x="5120640" y="1938528"/>
          <a:ext cx="2670048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41732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662D9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Condition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662D9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Approx. R_dark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 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24.6 Ω benchmark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298 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15.5 Ω benchmark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Shape 18"/>
          <p:cNvSpPr/>
          <p:nvPr/>
        </p:nvSpPr>
        <p:spPr>
          <a:xfrm>
            <a:off x="5074920" y="3858768"/>
            <a:ext cx="224028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184648" y="3959352"/>
            <a:ext cx="2020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5022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e_n,J = √(4 k T R)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8394192" y="1975104"/>
            <a:ext cx="2423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dark behavior at 298 K and 77 K before drawing any conclusions about performance.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8394192" y="3959352"/>
            <a:ext cx="2423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Temperature is part of the measurement definition. A detector does not have one universal dark state independent of temperature.</a:t>
            </a:r>
            <a:endParaRPr lang="en-US" sz="12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/>
          <p:cNvSpPr/>
          <p:nvPr/>
        </p:nvSpPr>
        <p:spPr>
          <a:xfrm>
            <a:off x="0" y="658368"/>
            <a:ext cx="182880" cy="1417320"/>
          </a:xfrm>
          <a:prstGeom prst="rect">
            <a:avLst/>
          </a:prstGeom>
          <a:solidFill>
            <a:srgbClr val="662D91"/>
          </a:solidFill>
          <a:ln w="12700">
            <a:solidFill>
              <a:srgbClr val="662D9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6400800"/>
            <a:ext cx="10972800" cy="9525"/>
          </a:xfrm>
          <a:prstGeom prst="line">
            <a:avLst/>
          </a:prstGeom>
          <a:noFill/>
          <a:ln w="12700">
            <a:solidFill>
              <a:srgbClr val="F3F4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451092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BROOKS </a:t>
            </a:r>
            <a:pPr indent="0" marL="0">
              <a:buNone/>
            </a:pPr>
            <a:r>
              <a:rPr lang="en-US" sz="1700" b="1" dirty="0">
                <a:solidFill>
                  <a:srgbClr val="662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PHOTONICS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778240" y="6469380"/>
            <a:ext cx="2743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www.brooks-photonics.com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96112" y="164592"/>
            <a:ext cx="4572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62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WEBINAR | 05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96112" y="402336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Opening the blackbody cover reveals photoresponse</a:t>
            </a:r>
            <a:endParaRPr lang="en-US" sz="2450" dirty="0"/>
          </a:p>
        </p:txBody>
      </p:sp>
      <p:sp>
        <p:nvSpPr>
          <p:cNvPr id="11" name="Text 9"/>
          <p:cNvSpPr/>
          <p:nvPr/>
        </p:nvSpPr>
        <p:spPr>
          <a:xfrm>
            <a:off x="896112" y="768096"/>
            <a:ext cx="9875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Optical response is identified by comparing the illuminated state to the dark baseline.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94360" y="1234440"/>
            <a:ext cx="11018520" cy="4846320"/>
          </a:xfrm>
          <a:prstGeom prst="roundRect">
            <a:avLst>
              <a:gd name="adj" fmla="val 2264"/>
            </a:avLst>
          </a:prstGeom>
          <a:solidFill>
            <a:srgbClr val="FAFA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83880" y="1536192"/>
            <a:ext cx="297180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83880" y="3529584"/>
            <a:ext cx="297180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96112" y="1481328"/>
            <a:ext cx="1627632" cy="256032"/>
          </a:xfrm>
          <a:prstGeom prst="roundRect">
            <a:avLst>
              <a:gd name="adj" fmla="val 17857"/>
            </a:avLst>
          </a:prstGeom>
          <a:solidFill>
            <a:srgbClr val="F4EEF9"/>
          </a:solidFill>
          <a:ln w="12700">
            <a:solidFill>
              <a:srgbClr val="F4EEF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24128" y="1531620"/>
            <a:ext cx="1371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62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ILLUMINATION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8394192" y="1700784"/>
            <a:ext cx="2377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62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ACTION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394192" y="3694176"/>
            <a:ext cx="2377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62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60120" y="1828800"/>
            <a:ext cx="6903720" cy="2926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30" b="1" dirty="0">
                <a:solidFill>
                  <a:srgbClr val="662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indent="0" marL="0">
              <a:buNone/>
            </a:pPr>
            <a:r>
              <a:rPr lang="en-US" sz="163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dark state provides the electrical baseline. Opening the BB cover injects the optical input.</a:t>
            </a:r>
            <a:pPr indent="0" marL="0">
              <a:buNone/>
            </a:pPr>
            <a:r>
              <a:rPr lang="en-US" sz="163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buNone/>
            </a:pPr>
            <a:r>
              <a:rPr lang="en-US" sz="1630" b="1" dirty="0">
                <a:solidFill>
                  <a:srgbClr val="662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indent="0" marL="0">
              <a:buNone/>
            </a:pPr>
            <a:r>
              <a:rPr lang="en-US" sz="163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meaningful optical quantity is the difference between illuminated output and dark output.</a:t>
            </a:r>
            <a:pPr indent="0" marL="0">
              <a:buNone/>
            </a:pPr>
            <a:r>
              <a:rPr lang="en-US" sz="163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buNone/>
            </a:pPr>
            <a:r>
              <a:rPr lang="en-US" sz="1630" b="1" dirty="0">
                <a:solidFill>
                  <a:srgbClr val="662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indent="0" marL="0">
              <a:buNone/>
            </a:pPr>
            <a:r>
              <a:rPr lang="en-US" sz="163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current mode, this appears as photocurrent. In voltage mode, it appears as photovoltage.</a:t>
            </a:r>
            <a:pPr indent="0" marL="0">
              <a:buNone/>
            </a:pPr>
            <a:r>
              <a:rPr lang="en-US" sz="163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buNone/>
            </a:pPr>
            <a:r>
              <a:rPr lang="en-US" sz="1630" b="1" dirty="0">
                <a:solidFill>
                  <a:srgbClr val="662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indent="0" marL="0">
              <a:buNone/>
            </a:pPr>
            <a:r>
              <a:rPr lang="en-US" sz="163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comparison discipline prevents students from confusing static detector bias behavior with optical response.</a:t>
            </a:r>
            <a:endParaRPr lang="en-US" sz="1630" dirty="0"/>
          </a:p>
        </p:txBody>
      </p:sp>
      <p:sp>
        <p:nvSpPr>
          <p:cNvPr id="20" name="Text 18"/>
          <p:cNvSpPr/>
          <p:nvPr/>
        </p:nvSpPr>
        <p:spPr>
          <a:xfrm>
            <a:off x="8394192" y="1975104"/>
            <a:ext cx="2423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Toggle the BB cover and compare the new electrical output against the covered-detector baseline.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394192" y="3959352"/>
            <a:ext cx="2423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Photoresponse is not interpreted in isolation. It is extracted by comparing two controlled measurement states.</a:t>
            </a:r>
            <a:endParaRPr lang="en-US" sz="1280" dirty="0"/>
          </a:p>
        </p:txBody>
      </p:sp>
      <p:sp>
        <p:nvSpPr>
          <p:cNvPr id="22" name="Shape 20"/>
          <p:cNvSpPr/>
          <p:nvPr/>
        </p:nvSpPr>
        <p:spPr>
          <a:xfrm>
            <a:off x="1051560" y="4572000"/>
            <a:ext cx="338328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61288" y="4672584"/>
            <a:ext cx="3163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5022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I_photo = I_illuminated - I_dark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ns2="http://schemas.microsoft.com/office/powerpoint/2010/main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/>
          <p:cNvSpPr/>
          <p:nvPr/>
        </p:nvSpPr>
        <p:spPr>
          <a:xfrm>
            <a:off x="0" y="658368"/>
            <a:ext cx="182880" cy="1417320"/>
          </a:xfrm>
          <a:prstGeom prst="rect">
            <a:avLst/>
          </a:prstGeom>
          <a:solidFill>
            <a:srgbClr val="662D91"/>
          </a:solidFill>
          <a:ln w="12700">
            <a:solidFill>
              <a:srgbClr val="662D9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6400800"/>
            <a:ext cx="10972800" cy="9525"/>
          </a:xfrm>
          <a:prstGeom prst="line">
            <a:avLst/>
          </a:prstGeom>
          <a:noFill/>
          <a:ln w="12700">
            <a:solidFill>
              <a:srgbClr val="F3F4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451092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BROOKS </a:t>
            </a:r>
            <a:pPr indent="0" marL="0">
              <a:buNone/>
            </a:pPr>
            <a:r>
              <a:rPr lang="en-US" sz="1700" b="1" dirty="0">
                <a:solidFill>
                  <a:srgbClr val="662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PHOTONICS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778240" y="6469380"/>
            <a:ext cx="2743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www.brooks-photonics.com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96112" y="164592"/>
            <a:ext cx="4572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62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WEBINAR | 06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96112" y="402336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 increases with bias</a:t>
            </a:r>
            <a:endParaRPr lang="en-US" sz="2450" dirty="0"/>
          </a:p>
        </p:txBody>
      </p:sp>
      <p:sp>
        <p:nvSpPr>
          <p:cNvPr id="11" name="Text 9"/>
          <p:cNvSpPr/>
          <p:nvPr/>
        </p:nvSpPr>
        <p:spPr>
          <a:xfrm>
            <a:off x="896112" y="768096"/>
            <a:ext cx="9875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optical input held constant, normalized photovoltage or photocurrent shows how response scales with bias.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94360" y="1234440"/>
            <a:ext cx="11018520" cy="4846320"/>
          </a:xfrm>
          <a:prstGeom prst="roundRect">
            <a:avLst>
              <a:gd name="adj" fmla="val 2264"/>
            </a:avLst>
          </a:prstGeom>
          <a:solidFill>
            <a:srgbClr val="FAFA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83880" y="1536192"/>
            <a:ext cx="297180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83880" y="3529584"/>
            <a:ext cx="297180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96112" y="1481328"/>
            <a:ext cx="1627632" cy="256032"/>
          </a:xfrm>
          <a:prstGeom prst="roundRect">
            <a:avLst>
              <a:gd name="adj" fmla="val 17857"/>
            </a:avLst>
          </a:prstGeom>
          <a:solidFill>
            <a:srgbClr val="F4EEF9"/>
          </a:solidFill>
          <a:ln w="12700">
            <a:solidFill>
              <a:srgbClr val="F4EEF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24128" y="1531620"/>
            <a:ext cx="1371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62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NORMALIZED RESPONSE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8394192" y="1700784"/>
            <a:ext cx="2377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62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ACTION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394192" y="3694176"/>
            <a:ext cx="2377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62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60120" y="1828800"/>
            <a:ext cx="4480560" cy="2651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580" b="1" dirty="0">
                <a:solidFill>
                  <a:srgbClr val="662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indent="0" marL="0">
              <a:buNone/>
            </a:pPr>
            <a:r>
              <a:rPr lang="en-US" sz="15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the incident optical input fixed and measure the photovoltage at several bias points.</a:t>
            </a:r>
            <a:pPr indent="0" marL="0">
              <a:buNone/>
            </a:pPr>
            <a:r>
              <a:rPr lang="en-US" sz="15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buNone/>
            </a:pPr>
            <a:r>
              <a:rPr lang="en-US" sz="1580" b="1" dirty="0">
                <a:solidFill>
                  <a:srgbClr val="662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indent="0" marL="0">
              <a:buNone/>
            </a:pPr>
            <a:r>
              <a:rPr lang="en-US" sz="15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Because the optical input is unchanged, the normalized voltage response can be compared directly from V_ph.</a:t>
            </a:r>
            <a:pPr indent="0" marL="0">
              <a:buNone/>
            </a:pPr>
            <a:r>
              <a:rPr lang="en-US" sz="15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buNone/>
            </a:pPr>
            <a:r>
              <a:rPr lang="en-US" sz="1580" b="1" dirty="0">
                <a:solidFill>
                  <a:srgbClr val="662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indent="0" marL="0">
              <a:buNone/>
            </a:pPr>
            <a:r>
              <a:rPr lang="en-US" sz="15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lets students learn the bias trend before any hidden optical power is revealed.</a:t>
            </a:r>
            <a:pPr indent="0" marL="0">
              <a:buNone/>
            </a:pPr>
            <a:r>
              <a:rPr lang="en-US" sz="15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buNone/>
            </a:pPr>
            <a:r>
              <a:rPr lang="en-US" sz="1580" b="1" dirty="0">
                <a:solidFill>
                  <a:srgbClr val="662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indent="0" marL="0">
              <a:buNone/>
            </a:pPr>
            <a:r>
              <a:rPr lang="en-US" sz="15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webinar uses measured output first, then absolute detector metrics later.</a:t>
            </a:r>
            <a:endParaRPr lang="en-US" sz="158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ns2:modId val="1579011935"/>
              </p:ext>
            </p:extLst>
          </p:nvPr>
        </p:nvGraphicFramePr>
        <p:xfrm>
          <a:off x="4800600" y="1828800"/>
          <a:ext cx="3108960" cy="914400"/>
        </p:xfrm>
        <a:graphic>
          <a:graphicData uri="http://schemas.openxmlformats.org/drawingml/2006/table">
            <a:tbl>
              <a:tblPr/>
              <a:tblGrid>
                <a:gridCol w="658368"/>
                <a:gridCol w="1024128"/>
                <a:gridCol w="896112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662D9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Bias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662D9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Photovoltage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662D9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Normalized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 V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171 µV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 V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314 µV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 V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419 µV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2.45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Shape 18"/>
          <p:cNvSpPr/>
          <p:nvPr/>
        </p:nvSpPr>
        <p:spPr>
          <a:xfrm>
            <a:off x="4983480" y="3858768"/>
            <a:ext cx="265176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093208" y="3959352"/>
            <a:ext cx="2432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5022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normalized response ∝ V_ph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8394192" y="1975104"/>
            <a:ext cx="2423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 V_ph at 0.5, 1.0, and 1.5 V and divide by the 0.5 V value.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8394192" y="3959352"/>
            <a:ext cx="2423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Normalized response is enough to understand the trend. Absolute responsivity is delayed until optical input is revealed.</a:t>
            </a:r>
            <a:endParaRPr lang="en-US" sz="12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/>
          <p:cNvSpPr/>
          <p:nvPr/>
        </p:nvSpPr>
        <p:spPr>
          <a:xfrm>
            <a:off x="0" y="658368"/>
            <a:ext cx="182880" cy="1417320"/>
          </a:xfrm>
          <a:prstGeom prst="rect">
            <a:avLst/>
          </a:prstGeom>
          <a:solidFill>
            <a:srgbClr val="662D91"/>
          </a:solidFill>
          <a:ln w="12700">
            <a:solidFill>
              <a:srgbClr val="662D9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6400800"/>
            <a:ext cx="10972800" cy="9525"/>
          </a:xfrm>
          <a:prstGeom prst="line">
            <a:avLst/>
          </a:prstGeom>
          <a:noFill/>
          <a:ln w="12700">
            <a:solidFill>
              <a:srgbClr val="F3F4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451092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BROOKS </a:t>
            </a:r>
            <a:pPr indent="0" marL="0">
              <a:buNone/>
            </a:pPr>
            <a:r>
              <a:rPr lang="en-US" sz="1700" b="1" dirty="0">
                <a:solidFill>
                  <a:srgbClr val="662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PHOTONICS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778240" y="6469380"/>
            <a:ext cx="2743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www.brooks-photonics.com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96112" y="164592"/>
            <a:ext cx="4572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62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WEBINAR | 07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96112" y="402336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chopping helps</a:t>
            </a:r>
            <a:endParaRPr lang="en-US" sz="2450" dirty="0"/>
          </a:p>
        </p:txBody>
      </p:sp>
      <p:sp>
        <p:nvSpPr>
          <p:cNvPr id="11" name="Text 9"/>
          <p:cNvSpPr/>
          <p:nvPr/>
        </p:nvSpPr>
        <p:spPr>
          <a:xfrm>
            <a:off x="896112" y="768096"/>
            <a:ext cx="9875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Modulating the optical input moves the signal into a known frequency channel.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94360" y="1234440"/>
            <a:ext cx="11018520" cy="4846320"/>
          </a:xfrm>
          <a:prstGeom prst="roundRect">
            <a:avLst>
              <a:gd name="adj" fmla="val 2264"/>
            </a:avLst>
          </a:prstGeom>
          <a:solidFill>
            <a:srgbClr val="FAFA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83880" y="1536192"/>
            <a:ext cx="297180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83880" y="3529584"/>
            <a:ext cx="297180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96112" y="1481328"/>
            <a:ext cx="1627632" cy="256032"/>
          </a:xfrm>
          <a:prstGeom prst="roundRect">
            <a:avLst>
              <a:gd name="adj" fmla="val 17857"/>
            </a:avLst>
          </a:prstGeom>
          <a:solidFill>
            <a:srgbClr val="F4EEF9"/>
          </a:solidFill>
          <a:ln w="12700">
            <a:solidFill>
              <a:srgbClr val="F4EEF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24128" y="1531620"/>
            <a:ext cx="1371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62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FREQUENCY DOMAIN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8394192" y="1700784"/>
            <a:ext cx="2377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62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ACTION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394192" y="3694176"/>
            <a:ext cx="2377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62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60120" y="1828800"/>
            <a:ext cx="6903720" cy="2926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30" b="1" dirty="0">
                <a:solidFill>
                  <a:srgbClr val="662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indent="0" marL="0">
              <a:buNone/>
            </a:pPr>
            <a:r>
              <a:rPr lang="en-US" sz="163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the chopper on and move from DC-style interpretation into the spectrum analyzer view.</a:t>
            </a:r>
            <a:pPr indent="0" marL="0">
              <a:buNone/>
            </a:pPr>
            <a:r>
              <a:rPr lang="en-US" sz="163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buNone/>
            </a:pPr>
            <a:r>
              <a:rPr lang="en-US" sz="1630" b="1" dirty="0">
                <a:solidFill>
                  <a:srgbClr val="662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indent="0" marL="0">
              <a:buNone/>
            </a:pPr>
            <a:r>
              <a:rPr lang="en-US" sz="163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chopped optical input appears as a feature at the chopper frequency rather than as an ambiguous static shift.</a:t>
            </a:r>
            <a:pPr indent="0" marL="0">
              <a:buNone/>
            </a:pPr>
            <a:r>
              <a:rPr lang="en-US" sz="163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buNone/>
            </a:pPr>
            <a:r>
              <a:rPr lang="en-US" sz="1630" b="1" dirty="0">
                <a:solidFill>
                  <a:srgbClr val="662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indent="0" marL="0">
              <a:buNone/>
            </a:pPr>
            <a:r>
              <a:rPr lang="en-US" sz="163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the basic reason chopped measurements are easier to interpret in noisy environments.</a:t>
            </a:r>
            <a:pPr indent="0" marL="0">
              <a:buNone/>
            </a:pPr>
            <a:r>
              <a:rPr lang="en-US" sz="163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buNone/>
            </a:pPr>
            <a:r>
              <a:rPr lang="en-US" sz="1630" b="1" dirty="0">
                <a:solidFill>
                  <a:srgbClr val="662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indent="0" marL="0">
              <a:buNone/>
            </a:pPr>
            <a:r>
              <a:rPr lang="en-US" sz="163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student begins learning that modulation is a measurement strategy, not just a convenience feature.</a:t>
            </a:r>
            <a:endParaRPr lang="en-US" sz="1630" dirty="0"/>
          </a:p>
        </p:txBody>
      </p:sp>
      <p:sp>
        <p:nvSpPr>
          <p:cNvPr id="20" name="Text 18"/>
          <p:cNvSpPr/>
          <p:nvPr/>
        </p:nvSpPr>
        <p:spPr>
          <a:xfrm>
            <a:off x="8394192" y="1975104"/>
            <a:ext cx="2423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to the Spectrum Analyzer, turn the chopper on, and identify the peak at the modulation frequency.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394192" y="3959352"/>
            <a:ext cx="2423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known modulation frequency gives the measurement a target. The student is no longer guessing where the signal should be.</a:t>
            </a:r>
            <a:endParaRPr lang="en-US" sz="1280" dirty="0"/>
          </a:p>
        </p:txBody>
      </p:sp>
      <p:sp>
        <p:nvSpPr>
          <p:cNvPr id="22" name="Shape 20"/>
          <p:cNvSpPr/>
          <p:nvPr/>
        </p:nvSpPr>
        <p:spPr>
          <a:xfrm>
            <a:off x="1097280" y="4526280"/>
            <a:ext cx="16916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70432" y="4727448"/>
            <a:ext cx="15453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827"/>
                </a:solidFill>
              </a:rPr>
              <a:t>Optical modulation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2871216" y="4727448"/>
            <a:ext cx="210312" cy="164592"/>
          </a:xfrm>
          <a:prstGeom prst="chevron">
            <a:avLst/>
          </a:prstGeom>
          <a:solidFill>
            <a:srgbClr val="662D91"/>
          </a:solidFill>
          <a:ln w="12700">
            <a:solidFill>
              <a:srgbClr val="662D9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46120" y="4526280"/>
            <a:ext cx="16916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19272" y="4727448"/>
            <a:ext cx="15453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827"/>
                </a:solidFill>
              </a:rPr>
              <a:t>Detector output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020056" y="4727448"/>
            <a:ext cx="210312" cy="164592"/>
          </a:xfrm>
          <a:prstGeom prst="chevron">
            <a:avLst/>
          </a:prstGeom>
          <a:solidFill>
            <a:srgbClr val="662D91"/>
          </a:solidFill>
          <a:ln w="12700">
            <a:solidFill>
              <a:srgbClr val="662D9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394960" y="4526280"/>
            <a:ext cx="1691640" cy="566928"/>
          </a:xfrm>
          <a:prstGeom prst="roundRect">
            <a:avLst>
              <a:gd name="adj" fmla="val 12903"/>
            </a:avLst>
          </a:prstGeom>
          <a:solidFill>
            <a:srgbClr val="F4EE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68112" y="4727448"/>
            <a:ext cx="15453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62D91"/>
                </a:solidFill>
              </a:rPr>
              <a:t>Peak at f_chop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ns2="http://schemas.microsoft.com/office/powerpoint/2010/main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/>
          <p:cNvSpPr/>
          <p:nvPr/>
        </p:nvSpPr>
        <p:spPr>
          <a:xfrm>
            <a:off x="0" y="658368"/>
            <a:ext cx="182880" cy="1417320"/>
          </a:xfrm>
          <a:prstGeom prst="rect">
            <a:avLst/>
          </a:prstGeom>
          <a:solidFill>
            <a:srgbClr val="662D91"/>
          </a:solidFill>
          <a:ln w="12700">
            <a:solidFill>
              <a:srgbClr val="662D9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6400800"/>
            <a:ext cx="10972800" cy="9525"/>
          </a:xfrm>
          <a:prstGeom prst="line">
            <a:avLst/>
          </a:prstGeom>
          <a:noFill/>
          <a:ln w="12700">
            <a:solidFill>
              <a:srgbClr val="F3F4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451092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BROOKS </a:t>
            </a:r>
            <a:pPr indent="0" marL="0">
              <a:buNone/>
            </a:pPr>
            <a:r>
              <a:rPr lang="en-US" sz="1700" b="1" dirty="0">
                <a:solidFill>
                  <a:srgbClr val="662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PHOTONICS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778240" y="6469380"/>
            <a:ext cx="2743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www.brooks-photonics.com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96112" y="164592"/>
            <a:ext cx="4572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62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WEBINAR | 08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96112" y="402336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Grounding separates real signal from contamination</a:t>
            </a:r>
            <a:endParaRPr lang="en-US" sz="2450" dirty="0"/>
          </a:p>
        </p:txBody>
      </p:sp>
      <p:sp>
        <p:nvSpPr>
          <p:cNvPr id="11" name="Text 9"/>
          <p:cNvSpPr/>
          <p:nvPr/>
        </p:nvSpPr>
        <p:spPr>
          <a:xfrm>
            <a:off x="896112" y="768096"/>
            <a:ext cx="9875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spectral features are not automatically detector physics.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94360" y="1234440"/>
            <a:ext cx="11018520" cy="4846320"/>
          </a:xfrm>
          <a:prstGeom prst="roundRect">
            <a:avLst>
              <a:gd name="adj" fmla="val 2264"/>
            </a:avLst>
          </a:prstGeom>
          <a:solidFill>
            <a:srgbClr val="FAFA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83880" y="1536192"/>
            <a:ext cx="297180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83880" y="3529584"/>
            <a:ext cx="297180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96112" y="1481328"/>
            <a:ext cx="1627632" cy="256032"/>
          </a:xfrm>
          <a:prstGeom prst="roundRect">
            <a:avLst>
              <a:gd name="adj" fmla="val 17857"/>
            </a:avLst>
          </a:prstGeom>
          <a:solidFill>
            <a:srgbClr val="F4EEF9"/>
          </a:solidFill>
          <a:ln w="12700">
            <a:solidFill>
              <a:srgbClr val="F4EEF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24128" y="1531620"/>
            <a:ext cx="1371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62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 HYGIENE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8394192" y="1700784"/>
            <a:ext cx="2377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62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ACTION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394192" y="3694176"/>
            <a:ext cx="2377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62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60120" y="1828800"/>
            <a:ext cx="6903720" cy="2926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30" b="1" dirty="0">
                <a:solidFill>
                  <a:srgbClr val="662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indent="0" marL="0">
              <a:buNone/>
            </a:pPr>
            <a:r>
              <a:rPr lang="en-US" sz="163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grounded and ungrounded conditions without changing the optical setup.</a:t>
            </a:r>
            <a:pPr indent="0" marL="0">
              <a:buNone/>
            </a:pPr>
            <a:r>
              <a:rPr lang="en-US" sz="163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buNone/>
            </a:pPr>
            <a:r>
              <a:rPr lang="en-US" sz="1630" b="1" dirty="0">
                <a:solidFill>
                  <a:srgbClr val="662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indent="0" marL="0">
              <a:buNone/>
            </a:pPr>
            <a:r>
              <a:rPr lang="en-US" sz="163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chopper peak is the intentional signal. The 60 Hz and 120 Hz features are environmental contamination.</a:t>
            </a:r>
            <a:pPr indent="0" marL="0">
              <a:buNone/>
            </a:pPr>
            <a:r>
              <a:rPr lang="en-US" sz="163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buNone/>
            </a:pPr>
            <a:r>
              <a:rPr lang="en-US" sz="1630" b="1" dirty="0">
                <a:solidFill>
                  <a:srgbClr val="662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indent="0" marL="0">
              <a:buNone/>
            </a:pPr>
            <a:r>
              <a:rPr lang="en-US" sz="163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teaches the student to identify the origin of a spectral feature before attaching physical meaning to it.</a:t>
            </a:r>
            <a:pPr indent="0" marL="0">
              <a:buNone/>
            </a:pPr>
            <a:r>
              <a:rPr lang="en-US" sz="163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buNone/>
            </a:pPr>
            <a:r>
              <a:rPr lang="en-US" sz="1630" b="1" dirty="0">
                <a:solidFill>
                  <a:srgbClr val="662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indent="0" marL="0">
              <a:buNone/>
            </a:pPr>
            <a:r>
              <a:rPr lang="en-US" sz="163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Grounding is part of the measurement, not just a background setup detail.</a:t>
            </a:r>
            <a:endParaRPr lang="en-US" sz="1630" dirty="0"/>
          </a:p>
        </p:txBody>
      </p:sp>
      <p:sp>
        <p:nvSpPr>
          <p:cNvPr id="20" name="Text 18"/>
          <p:cNvSpPr/>
          <p:nvPr/>
        </p:nvSpPr>
        <p:spPr>
          <a:xfrm>
            <a:off x="8394192" y="1975104"/>
            <a:ext cx="2423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Toggle grounded versus ungrounded and watch which peaks move or appear.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394192" y="3959352"/>
            <a:ext cx="2423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spectrum has to be interpreted. “Strong peak” is not enough - the student must know whether the feature comes from the detector, the modulation, or the environment.</a:t>
            </a:r>
            <a:endParaRPr lang="en-US" sz="128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ns2:modId val="1579011935"/>
              </p:ext>
            </p:extLst>
          </p:nvPr>
        </p:nvGraphicFramePr>
        <p:xfrm>
          <a:off x="1097280" y="4590288"/>
          <a:ext cx="3840480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251460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662D9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Feature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662D9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Interpretation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f_chop peak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intentional optical signal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 / 120 Hz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bench pickup / hum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/>
          <p:cNvSpPr/>
          <p:nvPr/>
        </p:nvSpPr>
        <p:spPr>
          <a:xfrm>
            <a:off x="0" y="658368"/>
            <a:ext cx="182880" cy="1417320"/>
          </a:xfrm>
          <a:prstGeom prst="rect">
            <a:avLst/>
          </a:prstGeom>
          <a:solidFill>
            <a:srgbClr val="662D91"/>
          </a:solidFill>
          <a:ln w="12700">
            <a:solidFill>
              <a:srgbClr val="662D9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6400800"/>
            <a:ext cx="10972800" cy="9525"/>
          </a:xfrm>
          <a:prstGeom prst="line">
            <a:avLst/>
          </a:prstGeom>
          <a:noFill/>
          <a:ln w="12700">
            <a:solidFill>
              <a:srgbClr val="F3F4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451092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BROOKS </a:t>
            </a:r>
            <a:pPr indent="0" marL="0">
              <a:buNone/>
            </a:pPr>
            <a:r>
              <a:rPr lang="en-US" sz="1700" b="1" dirty="0">
                <a:solidFill>
                  <a:srgbClr val="662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PHOTONICS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778240" y="6469380"/>
            <a:ext cx="2743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www.brooks-photonics.com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96112" y="164592"/>
            <a:ext cx="4572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62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WEBINAR | 09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96112" y="402336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Bias changes signal quality, not just signal size</a:t>
            </a:r>
            <a:endParaRPr lang="en-US" sz="2450" dirty="0"/>
          </a:p>
        </p:txBody>
      </p:sp>
      <p:sp>
        <p:nvSpPr>
          <p:cNvPr id="11" name="Text 9"/>
          <p:cNvSpPr/>
          <p:nvPr/>
        </p:nvSpPr>
        <p:spPr>
          <a:xfrm>
            <a:off x="896112" y="768096"/>
            <a:ext cx="9875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real question is whether the useful spectral feature rises faster than the nearby floor.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94360" y="1234440"/>
            <a:ext cx="11018520" cy="4846320"/>
          </a:xfrm>
          <a:prstGeom prst="roundRect">
            <a:avLst>
              <a:gd name="adj" fmla="val 2264"/>
            </a:avLst>
          </a:prstGeom>
          <a:solidFill>
            <a:srgbClr val="FAFA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83880" y="1536192"/>
            <a:ext cx="297180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83880" y="3529584"/>
            <a:ext cx="297180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96112" y="1481328"/>
            <a:ext cx="1627632" cy="256032"/>
          </a:xfrm>
          <a:prstGeom prst="roundRect">
            <a:avLst>
              <a:gd name="adj" fmla="val 17857"/>
            </a:avLst>
          </a:prstGeom>
          <a:solidFill>
            <a:srgbClr val="F4EEF9"/>
          </a:solidFill>
          <a:ln w="12700">
            <a:solidFill>
              <a:srgbClr val="F4EEF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24128" y="1531620"/>
            <a:ext cx="1371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62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 VS FLOOR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8394192" y="1700784"/>
            <a:ext cx="2377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62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ACTION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394192" y="3694176"/>
            <a:ext cx="2377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62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60120" y="1828800"/>
            <a:ext cx="6903720" cy="2926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30" b="1" dirty="0">
                <a:solidFill>
                  <a:srgbClr val="662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indent="0" marL="0">
              <a:buNone/>
            </a:pPr>
            <a:r>
              <a:rPr lang="en-US" sz="163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each bias point, compare the chopper peak height to the local spectral floor near that frequency.</a:t>
            </a:r>
            <a:pPr indent="0" marL="0">
              <a:buNone/>
            </a:pPr>
            <a:r>
              <a:rPr lang="en-US" sz="163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buNone/>
            </a:pPr>
            <a:r>
              <a:rPr lang="en-US" sz="1630" b="1" dirty="0">
                <a:solidFill>
                  <a:srgbClr val="662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indent="0" marL="0">
              <a:buNone/>
            </a:pPr>
            <a:r>
              <a:rPr lang="en-US" sz="163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larger signal is useful only if it becomes easier to distinguish from the surrounding background.</a:t>
            </a:r>
            <a:pPr indent="0" marL="0">
              <a:buNone/>
            </a:pPr>
            <a:r>
              <a:rPr lang="en-US" sz="163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buNone/>
            </a:pPr>
            <a:r>
              <a:rPr lang="en-US" sz="1630" b="1" dirty="0">
                <a:solidFill>
                  <a:srgbClr val="662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indent="0" marL="0">
              <a:buNone/>
            </a:pPr>
            <a:r>
              <a:rPr lang="en-US" sz="163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teaches students to think in terms of detectability and measurement quality, not raw amplitude alone.</a:t>
            </a:r>
            <a:pPr indent="0" marL="0">
              <a:buNone/>
            </a:pPr>
            <a:r>
              <a:rPr lang="en-US" sz="163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buNone/>
            </a:pPr>
            <a:r>
              <a:rPr lang="en-US" sz="1630" b="1" dirty="0">
                <a:solidFill>
                  <a:srgbClr val="662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indent="0" marL="0">
              <a:buNone/>
            </a:pPr>
            <a:r>
              <a:rPr lang="en-US" sz="163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Bias choice is therefore a tradeoff, not simply “higher is always better.”</a:t>
            </a:r>
            <a:endParaRPr lang="en-US" sz="1630" dirty="0"/>
          </a:p>
        </p:txBody>
      </p:sp>
      <p:sp>
        <p:nvSpPr>
          <p:cNvPr id="20" name="Text 18"/>
          <p:cNvSpPr/>
          <p:nvPr/>
        </p:nvSpPr>
        <p:spPr>
          <a:xfrm>
            <a:off x="8394192" y="1975104"/>
            <a:ext cx="2423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the peak and nearby floor at 0.5, 1.0, and 1.5 V.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394192" y="3959352"/>
            <a:ext cx="2423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Measurement quality depends on relative contrast. Better detector operation means better signal relative to the local background, not just a bigger number.</a:t>
            </a:r>
            <a:endParaRPr lang="en-US" sz="1280" dirty="0"/>
          </a:p>
        </p:txBody>
      </p:sp>
      <p:sp>
        <p:nvSpPr>
          <p:cNvPr id="22" name="Shape 20"/>
          <p:cNvSpPr/>
          <p:nvPr/>
        </p:nvSpPr>
        <p:spPr>
          <a:xfrm>
            <a:off x="1005840" y="4572000"/>
            <a:ext cx="384048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15568" y="4672584"/>
            <a:ext cx="3621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5022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signal quality ~ peak / nearby floor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/>
          <p:cNvSpPr/>
          <p:nvPr/>
        </p:nvSpPr>
        <p:spPr>
          <a:xfrm>
            <a:off x="0" y="658368"/>
            <a:ext cx="182880" cy="1417320"/>
          </a:xfrm>
          <a:prstGeom prst="rect">
            <a:avLst/>
          </a:prstGeom>
          <a:solidFill>
            <a:srgbClr val="662D91"/>
          </a:solidFill>
          <a:ln w="12700">
            <a:solidFill>
              <a:srgbClr val="662D9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6400800"/>
            <a:ext cx="10972800" cy="9525"/>
          </a:xfrm>
          <a:prstGeom prst="line">
            <a:avLst/>
          </a:prstGeom>
          <a:noFill/>
          <a:ln w="12700">
            <a:solidFill>
              <a:srgbClr val="F3F4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451092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BROOKS </a:t>
            </a:r>
            <a:pPr indent="0" marL="0">
              <a:buNone/>
            </a:pPr>
            <a:r>
              <a:rPr lang="en-US" sz="1700" b="1" dirty="0">
                <a:solidFill>
                  <a:srgbClr val="662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PHOTONICS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778240" y="6469380"/>
            <a:ext cx="2743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www.brooks-photonics.com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96112" y="164592"/>
            <a:ext cx="4572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62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WEBINAR | 10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96112" y="402336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preamp actually does</a:t>
            </a:r>
            <a:endParaRPr lang="en-US" sz="2450" dirty="0"/>
          </a:p>
        </p:txBody>
      </p:sp>
      <p:sp>
        <p:nvSpPr>
          <p:cNvPr id="11" name="Text 9"/>
          <p:cNvSpPr/>
          <p:nvPr/>
        </p:nvSpPr>
        <p:spPr>
          <a:xfrm>
            <a:off x="896112" y="768096"/>
            <a:ext cx="9875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the webinar toy model, the preamp is best understood as a measurement-chain conditioning stage.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94360" y="1234440"/>
            <a:ext cx="11018520" cy="4846320"/>
          </a:xfrm>
          <a:prstGeom prst="roundRect">
            <a:avLst>
              <a:gd name="adj" fmla="val 2264"/>
            </a:avLst>
          </a:prstGeom>
          <a:solidFill>
            <a:srgbClr val="FAFA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83880" y="1536192"/>
            <a:ext cx="297180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83880" y="3529584"/>
            <a:ext cx="297180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96112" y="1481328"/>
            <a:ext cx="1627632" cy="256032"/>
          </a:xfrm>
          <a:prstGeom prst="roundRect">
            <a:avLst>
              <a:gd name="adj" fmla="val 17857"/>
            </a:avLst>
          </a:prstGeom>
          <a:solidFill>
            <a:srgbClr val="F4EEF9"/>
          </a:solidFill>
          <a:ln w="12700">
            <a:solidFill>
              <a:srgbClr val="F4EEF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24128" y="1531620"/>
            <a:ext cx="1371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62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PREAMP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8394192" y="1700784"/>
            <a:ext cx="2377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62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ACTION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394192" y="3694176"/>
            <a:ext cx="2377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62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60120" y="1828800"/>
            <a:ext cx="6903720" cy="2926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30" b="1" dirty="0">
                <a:solidFill>
                  <a:srgbClr val="662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indent="0" marL="0">
              <a:buNone/>
            </a:pPr>
            <a:r>
              <a:rPr lang="en-US" sz="163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current toy simulator, preamp gain acts like an ideal output-side voltage gain stage.</a:t>
            </a:r>
            <a:pPr indent="0" marL="0">
              <a:buNone/>
            </a:pPr>
            <a:r>
              <a:rPr lang="en-US" sz="163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buNone/>
            </a:pPr>
            <a:r>
              <a:rPr lang="en-US" sz="1630" b="1" dirty="0">
                <a:solidFill>
                  <a:srgbClr val="662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indent="0" marL="0">
              <a:buNone/>
            </a:pPr>
            <a:r>
              <a:rPr lang="en-US" sz="163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 and detector-origin noise both scale with gain, so intrinsic detector SNR does not automatically improve.</a:t>
            </a:r>
            <a:pPr indent="0" marL="0">
              <a:buNone/>
            </a:pPr>
            <a:r>
              <a:rPr lang="en-US" sz="163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buNone/>
            </a:pPr>
            <a:r>
              <a:rPr lang="en-US" sz="1630" b="1" dirty="0">
                <a:solidFill>
                  <a:srgbClr val="662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indent="0" marL="0">
              <a:buNone/>
            </a:pPr>
            <a:r>
              <a:rPr lang="en-US" sz="163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practical role of the preamp is to bring the detector output into a useful range for the next instrument: lock-in, scope, analyzer, or DAQ.</a:t>
            </a:r>
            <a:pPr indent="0" marL="0">
              <a:buNone/>
            </a:pPr>
            <a:r>
              <a:rPr lang="en-US" sz="163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buNone/>
            </a:pPr>
            <a:r>
              <a:rPr lang="en-US" sz="1630" b="1" dirty="0">
                <a:solidFill>
                  <a:srgbClr val="662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indent="0" marL="0">
              <a:buNone/>
            </a:pPr>
            <a:r>
              <a:rPr lang="en-US" sz="163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mirrors why real test departments may always use preamps even when experimentalists remain cautious about added noise sources.</a:t>
            </a:r>
            <a:endParaRPr lang="en-US" sz="1630" dirty="0"/>
          </a:p>
        </p:txBody>
      </p:sp>
      <p:sp>
        <p:nvSpPr>
          <p:cNvPr id="20" name="Text 18"/>
          <p:cNvSpPr/>
          <p:nvPr/>
        </p:nvSpPr>
        <p:spPr>
          <a:xfrm>
            <a:off x="8394192" y="1975104"/>
            <a:ext cx="2423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Toggle preamp gain and watch the displayed voltage scale move into a more usable instrument range.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394192" y="3959352"/>
            <a:ext cx="2423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lesson is not “preamp makes detector better.” The lesson is “preamp helps the measurement chain use the detector output effectively.”</a:t>
            </a:r>
            <a:endParaRPr lang="en-US" sz="1280" dirty="0"/>
          </a:p>
        </p:txBody>
      </p:sp>
      <p:sp>
        <p:nvSpPr>
          <p:cNvPr id="22" name="Shape 20"/>
          <p:cNvSpPr/>
          <p:nvPr/>
        </p:nvSpPr>
        <p:spPr>
          <a:xfrm>
            <a:off x="1051560" y="4572000"/>
            <a:ext cx="205740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61288" y="4672584"/>
            <a:ext cx="1837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5022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V_out = G · V_in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/>
          <p:cNvSpPr/>
          <p:nvPr/>
        </p:nvSpPr>
        <p:spPr>
          <a:xfrm>
            <a:off x="0" y="658368"/>
            <a:ext cx="182880" cy="1417320"/>
          </a:xfrm>
          <a:prstGeom prst="rect">
            <a:avLst/>
          </a:prstGeom>
          <a:solidFill>
            <a:srgbClr val="662D91"/>
          </a:solidFill>
          <a:ln w="12700">
            <a:solidFill>
              <a:srgbClr val="662D9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6400800"/>
            <a:ext cx="10972800" cy="9525"/>
          </a:xfrm>
          <a:prstGeom prst="line">
            <a:avLst/>
          </a:prstGeom>
          <a:noFill/>
          <a:ln w="12700">
            <a:solidFill>
              <a:srgbClr val="F3F4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451092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BROOKS </a:t>
            </a:r>
            <a:pPr indent="0" marL="0">
              <a:buNone/>
            </a:pPr>
            <a:r>
              <a:rPr lang="en-US" sz="1700" b="1" dirty="0">
                <a:solidFill>
                  <a:srgbClr val="662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PHOTONICS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778240" y="6469380"/>
            <a:ext cx="2743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www.brooks-photonics.com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96112" y="164592"/>
            <a:ext cx="4572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62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WEBINAR | 11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96112" y="402336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Oscilloscope view: the same measurement in time</a:t>
            </a:r>
            <a:endParaRPr lang="en-US" sz="2450" dirty="0"/>
          </a:p>
        </p:txBody>
      </p:sp>
      <p:sp>
        <p:nvSpPr>
          <p:cNvPr id="11" name="Text 9"/>
          <p:cNvSpPr/>
          <p:nvPr/>
        </p:nvSpPr>
        <p:spPr>
          <a:xfrm>
            <a:off x="896112" y="768096"/>
            <a:ext cx="9875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spectrum and the scope are two views of the same detector output.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94360" y="1234440"/>
            <a:ext cx="11018520" cy="4846320"/>
          </a:xfrm>
          <a:prstGeom prst="roundRect">
            <a:avLst>
              <a:gd name="adj" fmla="val 2264"/>
            </a:avLst>
          </a:prstGeom>
          <a:solidFill>
            <a:srgbClr val="FAFA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83880" y="1536192"/>
            <a:ext cx="297180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83880" y="3529584"/>
            <a:ext cx="297180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96112" y="1481328"/>
            <a:ext cx="1627632" cy="256032"/>
          </a:xfrm>
          <a:prstGeom prst="roundRect">
            <a:avLst>
              <a:gd name="adj" fmla="val 17857"/>
            </a:avLst>
          </a:prstGeom>
          <a:solidFill>
            <a:srgbClr val="F4EEF9"/>
          </a:solidFill>
          <a:ln w="12700">
            <a:solidFill>
              <a:srgbClr val="F4EEF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24128" y="1531620"/>
            <a:ext cx="1371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62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DOMAIN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8394192" y="1700784"/>
            <a:ext cx="2377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62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ACTION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394192" y="3694176"/>
            <a:ext cx="2377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62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60120" y="1828800"/>
            <a:ext cx="6903720" cy="2926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30" b="1" dirty="0">
                <a:solidFill>
                  <a:srgbClr val="662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indent="0" marL="0">
              <a:buNone/>
            </a:pPr>
            <a:r>
              <a:rPr lang="en-US" sz="163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chopped detector response appears as structured AC behavior in time rather than as a spectral peak.</a:t>
            </a:r>
            <a:pPr indent="0" marL="0">
              <a:buNone/>
            </a:pPr>
            <a:r>
              <a:rPr lang="en-US" sz="163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buNone/>
            </a:pPr>
            <a:r>
              <a:rPr lang="en-US" sz="1630" b="1" dirty="0">
                <a:solidFill>
                  <a:srgbClr val="662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indent="0" marL="0">
              <a:buNone/>
            </a:pPr>
            <a:r>
              <a:rPr lang="en-US" sz="163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waveform also carries noise and any contamination that the bench introduces.</a:t>
            </a:r>
            <a:pPr indent="0" marL="0">
              <a:buNone/>
            </a:pPr>
            <a:r>
              <a:rPr lang="en-US" sz="163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buNone/>
            </a:pPr>
            <a:r>
              <a:rPr lang="en-US" sz="1630" b="1" dirty="0">
                <a:solidFill>
                  <a:srgbClr val="662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indent="0" marL="0">
              <a:buNone/>
            </a:pPr>
            <a:r>
              <a:rPr lang="en-US" sz="163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simulator reports RMS voltage, which is a compact bench quantity but not automatically pure optical signal.</a:t>
            </a:r>
            <a:pPr indent="0" marL="0">
              <a:buNone/>
            </a:pPr>
            <a:r>
              <a:rPr lang="en-US" sz="163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buNone/>
            </a:pPr>
            <a:r>
              <a:rPr lang="en-US" sz="1630" b="1" dirty="0">
                <a:solidFill>
                  <a:srgbClr val="662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indent="0" marL="0">
              <a:buNone/>
            </a:pPr>
            <a:r>
              <a:rPr lang="en-US" sz="163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student should use the scope and spectrum together and expect them to tell a consistent measurement story.</a:t>
            </a:r>
            <a:endParaRPr lang="en-US" sz="1630" dirty="0"/>
          </a:p>
        </p:txBody>
      </p:sp>
      <p:sp>
        <p:nvSpPr>
          <p:cNvPr id="20" name="Text 18"/>
          <p:cNvSpPr/>
          <p:nvPr/>
        </p:nvSpPr>
        <p:spPr>
          <a:xfrm>
            <a:off x="8394192" y="1975104"/>
            <a:ext cx="2423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 the waveform, then compare grounded versus ungrounded or low bias versus high bias.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394192" y="3959352"/>
            <a:ext cx="2423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RMS voltage is useful because it compresses a noisy waveform into one measurable number. The caution is that RMS can include both wanted and unwanted contributions.</a:t>
            </a:r>
            <a:endParaRPr lang="en-US" sz="1280" dirty="0"/>
          </a:p>
        </p:txBody>
      </p:sp>
      <p:sp>
        <p:nvSpPr>
          <p:cNvPr id="22" name="Shape 20"/>
          <p:cNvSpPr/>
          <p:nvPr/>
        </p:nvSpPr>
        <p:spPr>
          <a:xfrm>
            <a:off x="1051560" y="4572000"/>
            <a:ext cx="310896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61288" y="4672584"/>
            <a:ext cx="2889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5022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V_rms = √[(1/N) Σ v_i²]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ns2="http://schemas.microsoft.com/office/powerpoint/2010/main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/>
          <p:cNvSpPr/>
          <p:nvPr/>
        </p:nvSpPr>
        <p:spPr>
          <a:xfrm>
            <a:off x="0" y="658368"/>
            <a:ext cx="182880" cy="1417320"/>
          </a:xfrm>
          <a:prstGeom prst="rect">
            <a:avLst/>
          </a:prstGeom>
          <a:solidFill>
            <a:srgbClr val="662D91"/>
          </a:solidFill>
          <a:ln w="12700">
            <a:solidFill>
              <a:srgbClr val="662D9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6400800"/>
            <a:ext cx="10972800" cy="9525"/>
          </a:xfrm>
          <a:prstGeom prst="line">
            <a:avLst/>
          </a:prstGeom>
          <a:noFill/>
          <a:ln w="12700">
            <a:solidFill>
              <a:srgbClr val="F3F4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451092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BROOKS </a:t>
            </a:r>
            <a:pPr indent="0" marL="0">
              <a:buNone/>
            </a:pPr>
            <a:r>
              <a:rPr lang="en-US" sz="1700" b="1" dirty="0">
                <a:solidFill>
                  <a:srgbClr val="662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PHOTONICS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778240" y="6469380"/>
            <a:ext cx="2743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www.brooks-photonics.com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96112" y="164592"/>
            <a:ext cx="4572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62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WEBINAR | 12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96112" y="402336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Reveal the optical input and compute absolute voltage responsivity</a:t>
            </a:r>
            <a:endParaRPr lang="en-US" sz="2450" dirty="0"/>
          </a:p>
        </p:txBody>
      </p:sp>
      <p:sp>
        <p:nvSpPr>
          <p:cNvPr id="11" name="Text 9"/>
          <p:cNvSpPr/>
          <p:nvPr/>
        </p:nvSpPr>
        <p:spPr>
          <a:xfrm>
            <a:off x="896112" y="768096"/>
            <a:ext cx="9875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payoff slide: convert normalized voltage response into a true detector metric.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94360" y="1234440"/>
            <a:ext cx="11018520" cy="4846320"/>
          </a:xfrm>
          <a:prstGeom prst="roundRect">
            <a:avLst>
              <a:gd name="adj" fmla="val 2264"/>
            </a:avLst>
          </a:prstGeom>
          <a:solidFill>
            <a:srgbClr val="FAFA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83880" y="1536192"/>
            <a:ext cx="297180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83880" y="3529584"/>
            <a:ext cx="297180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96112" y="1481328"/>
            <a:ext cx="1627632" cy="256032"/>
          </a:xfrm>
          <a:prstGeom prst="roundRect">
            <a:avLst>
              <a:gd name="adj" fmla="val 17857"/>
            </a:avLst>
          </a:prstGeom>
          <a:solidFill>
            <a:srgbClr val="F4EEF9"/>
          </a:solidFill>
          <a:ln w="12700">
            <a:solidFill>
              <a:srgbClr val="F4EEF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24128" y="1531620"/>
            <a:ext cx="1371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62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RESPONSIVITY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8394192" y="1700784"/>
            <a:ext cx="2377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62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ACTION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394192" y="3694176"/>
            <a:ext cx="2377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62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60120" y="1828800"/>
            <a:ext cx="4434840" cy="245059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662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indent="0" marL="0">
              <a:buNone/>
            </a:pPr>
            <a:r>
              <a:rPr lang="en-US" sz="1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to now we intentionally worked with normalized response because optical input had not yet been revealed.</a:t>
            </a:r>
            <a:pPr indent="0" marL="0">
              <a:buNone/>
            </a:pPr>
            <a:r>
              <a:rPr lang="en-US" sz="15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buNone/>
            </a:pPr>
            <a:r>
              <a:rPr lang="en-US" sz="1550" b="1" dirty="0">
                <a:solidFill>
                  <a:srgbClr val="662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indent="0" marL="0">
              <a:buNone/>
            </a:pPr>
            <a:r>
              <a:rPr lang="en-US" sz="1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toy simulator uses a hidden total incident optical power, so voltage responsivity can now be computed directly.</a:t>
            </a:r>
            <a:pPr indent="0" marL="0">
              <a:buNone/>
            </a:pPr>
            <a:r>
              <a:rPr lang="en-US" sz="15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buNone/>
            </a:pPr>
            <a:r>
              <a:rPr lang="en-US" sz="1550" b="1" dirty="0">
                <a:solidFill>
                  <a:srgbClr val="662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indent="0" marL="0">
              <a:buNone/>
            </a:pPr>
            <a:r>
              <a:rPr lang="en-US" sz="1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makes explicit that absolute responsivity cannot be obtained from electrical output alone - optical input is also required.</a:t>
            </a:r>
            <a:pPr indent="0" marL="0">
              <a:buNone/>
            </a:pPr>
            <a:r>
              <a:rPr lang="en-US" sz="15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buNone/>
            </a:pPr>
            <a:r>
              <a:rPr lang="en-US" sz="1550" b="1" dirty="0">
                <a:solidFill>
                  <a:srgbClr val="662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indent="0" marL="0">
              <a:buNone/>
            </a:pPr>
            <a:r>
              <a:rPr lang="en-US" sz="1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result closes the loop from bench observables to a detector performance metric.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1005840" y="4407408"/>
            <a:ext cx="224028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15568" y="4507992"/>
            <a:ext cx="2020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5022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R_v = V_ph / P_incident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60120" y="4956048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6B7280"/>
                </a:solidFill>
              </a:rPr>
              <a:t>Hidden toy-sim input:  P_incident = 4.315 × 10^-7 W</a:t>
            </a:r>
            <a:endParaRPr lang="en-US" sz="112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ns2:modId val="1579011935"/>
              </p:ext>
            </p:extLst>
          </p:nvPr>
        </p:nvGraphicFramePr>
        <p:xfrm>
          <a:off x="4709160" y="1847088"/>
          <a:ext cx="3127248" cy="914400"/>
        </p:xfrm>
        <a:graphic>
          <a:graphicData uri="http://schemas.openxmlformats.org/drawingml/2006/table">
            <a:tbl>
              <a:tblPr/>
              <a:tblGrid>
                <a:gridCol w="658368"/>
                <a:gridCol w="914400"/>
                <a:gridCol w="91440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662D9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Bias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662D9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Vph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662D9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Rv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 V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171 µV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396 V/W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 V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314 µV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728 V/W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 V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419 µV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971 V/W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Text 21"/>
          <p:cNvSpPr/>
          <p:nvPr/>
        </p:nvSpPr>
        <p:spPr>
          <a:xfrm>
            <a:off x="8394192" y="1975104"/>
            <a:ext cx="2423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measured photovoltage values and divide by the hidden total incident power.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8394192" y="3959352"/>
            <a:ext cx="2423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Normalized response teaches trend. Revealed optical input enables absolute voltage responsivity. That is the final payoff of the session.</a:t>
            </a:r>
            <a:endParaRPr lang="en-US" sz="12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Interactive MCT Test Bench Webinar</dc:title>
  <dc:subject>MCT Photoconductor Webinar</dc:subject>
  <dc:creator>OpenAI</dc:creator>
  <cp:lastModifiedBy>OpenAI</cp:lastModifiedBy>
  <cp:revision>1</cp:revision>
  <dcterms:created xsi:type="dcterms:W3CDTF">2026-04-05T15:39:13Z</dcterms:created>
  <dcterms:modified xsi:type="dcterms:W3CDTF">2026-04-05T15:39:13Z</dcterms:modified>
</cp:coreProperties>
</file>