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simulator is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virtual MCT photoconductor test and measurement bench for learning how controls map to observable outputs.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Instrument-centered environment: Spectrum Analyzer, Oscilloscope, and I-V Characteristics.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controls mirror real setup decisions: bias, temperature, BB cover, chopper, grounding, and preamp.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is about measurement interpretation: control -&gt; measurement -&gt; interpretation.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the rigorous FEniCS model. It is a webinar-grade training tool built around bench behavior.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simulator and identify the sidebar controls, instrument tabs, and telemetry readouts.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the utility like a virtual test bench. Every slide should connect a user action to a measurable consequence.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960120" y="45262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06424" y="466344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</a:rPr>
              <a:t>Detector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06424" y="48828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B5563"/>
                </a:solidFill>
              </a:rPr>
              <a:t>Bias and temperature set the operating point.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3337560" y="45262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83864" y="466344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</a:rPr>
              <a:t>Optical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483864" y="48828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B5563"/>
                </a:solidFill>
              </a:rPr>
              <a:t>BB cover and chopper define the signal injection.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5715000" y="452628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61304" y="4663440"/>
            <a:ext cx="1645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827"/>
                </a:solidFill>
              </a:rPr>
              <a:t>Readout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861304" y="4882896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4B5563"/>
                </a:solidFill>
              </a:rPr>
              <a:t>Grounding, preamp, scope, and spectrum determine what you actually see.</a:t>
            </a:r>
            <a:endParaRPr lang="en-US" sz="10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resistance is the first extraction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with the most familiar quantity: the covered detector current under bias.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 the detector so the optical contribution is removed and only the dark electrical state remains.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bias point, read voltage and current, and compute dark resistance from the bench quantities.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correct first-pass extraction because it does not rely on hidden simulator constants.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immediately interpretable as a device-plus-setup electrical operating point.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BB cover closed. Measure V and I at one bias point and calculate R_dark.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what is directly measurable. The first lesson is not hidden physics - it is disciplined extraction from bench observables.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51560" y="4572000"/>
            <a:ext cx="2103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467258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R_dark = V / I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powerpoint/2010/main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03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Ohmic region versus nonlinearity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dark-resistance calculation across low bias and ask whether the detector is approximately ohmic.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LOW-BIAS CHECK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4023360" cy="2697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same covered-detector procedure at several bias points rather than trusting a single number.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R_dark stays nearly constant, the device is approximately ohmic in that operating region.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R_dark drifts strongly with bias, nonlinearity or measurement-chain effects are becoming important.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webinar toy model, the updated low-bias trend is intentionally mild and more bench-like.</a:t>
            </a:r>
            <a:endParaRPr lang="en-US" sz="158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74920" y="1856232"/>
          <a:ext cx="3035808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1325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R_dark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Interpretation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 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ohmic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 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ohmic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 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mild curvature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166360" y="3931920"/>
            <a:ext cx="18745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76088" y="4032504"/>
            <a:ext cx="1655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R_dark = V / I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R_dark at 0.5, 1.0, and 1.5 V and compare the spread.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resistance value is also a linearity diagnostic. The right question is not only “what is R?” but “does R stay stable with bias?”</a:t>
            </a:r>
            <a:endParaRPr lang="en-US" sz="12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powerpoint/2010/main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04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changes dark behavior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electrical behavior is not fixed - it changes with operating temperature.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covered-detector check at room temperature and at 77 K.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resistance and the noise floor both depend on temperature, so operating point is temperature specific.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Colder operation typically shifts the detector into a cleaner electrical state and lowers Johnson-type voltage noise.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why cryogenic detector measurements must always be interpreted together with temperature.</a:t>
            </a:r>
            <a:endParaRPr lang="en-US" sz="158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440680" y="1938528"/>
          <a:ext cx="2670048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17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Approx. R_dark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 Ω benchmark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 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 Ω benchmark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074920" y="3858768"/>
            <a:ext cx="224028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84648" y="3959352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e_n,J = √(4 k T R)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dark behavior at 298 K and 77 K before drawing any conclusions about performance.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is part of the measurement definition. A detector does not have one universal dark state independent of temperature.</a:t>
            </a:r>
            <a:endParaRPr lang="en-US" sz="12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blackbody cover reveals photoresponse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 response is identified by comparing the illuminated state to the dark baseline.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dark state provides the electrical baseline. Opening the BB cover injects the optical input.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meaningful optical quantity is the difference between illuminated output and dark output.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current mode, this appears as photocurrent. In voltage mode, it appears as photovoltage.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comparison discipline prevents students from confusing static detector bias behavior with optical response.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the BB cover and compare the new electrical output against the covered-detector baseline.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Photoresponse is not interpreted in isolation. It is extracted by comparing two controlled measurement states.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51560" y="4572000"/>
            <a:ext cx="338328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4672584"/>
            <a:ext cx="3163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I_photo = I_illuminated - I_dark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powerpoint/2010/main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increases with bias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optical input held constant, normalized photovoltage or photocurrent shows how response scales with bias.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RESPONSE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397764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incident optical input fixed and measure the photovoltage at several bias points.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optical input is unchanged, the normalized voltage response can be compared directly from V_ph.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lets students learn the bias trend before any hidden optical power is revealed.</a:t>
            </a:r>
            <a:pPr indent="0" marL="0">
              <a:buNone/>
            </a:pPr>
            <a:r>
              <a:rPr lang="en-US" sz="15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8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webinar uses measured output first, then absolute detector metrics later.</a:t>
            </a:r>
            <a:endParaRPr lang="en-US" sz="158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0" y="1828800"/>
          <a:ext cx="310896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024128"/>
                <a:gridCol w="89611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Photovoltage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Normalized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983480" y="3858768"/>
            <a:ext cx="26517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93208" y="3959352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response ∝ V_ph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V_ph at 0.5, 1.0, and 1.5 V and divide by the 0.5 V value.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response is enough to understand the trend. Absolute responsivity is delayed until optical input is revealed.</a:t>
            </a:r>
            <a:endParaRPr lang="en-US" sz="12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07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chopping helps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Modulating the optical input moves the signal into a known frequency channel.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DOMAIN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chopper on and move from DC-style interpretation into the spectrum analyzer view.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chopped optical input appears as a feature at the chopper frequency rather than as an ambiguous static shift.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basic reason chopped measurements are easier to interpret in noisy environments.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 begins learning that modulation is a measurement strategy, not just a convenience feature.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the Spectrum Analyzer, turn the chopper on, and identify the peak at the modulation frequency.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known modulation frequency gives the measurement a target. The student is no longer guessing where the signal should be.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97280" y="4526280"/>
            <a:ext cx="1691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70432" y="4727448"/>
            <a:ext cx="1545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827"/>
                </a:solidFill>
              </a:rPr>
              <a:t>Optical modulation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871216" y="4727448"/>
            <a:ext cx="210312" cy="164592"/>
          </a:xfrm>
          <a:prstGeom prst="chevron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4526280"/>
            <a:ext cx="1691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19272" y="4727448"/>
            <a:ext cx="1545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827"/>
                </a:solidFill>
              </a:rPr>
              <a:t>Detector output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0056" y="4727448"/>
            <a:ext cx="210312" cy="164592"/>
          </a:xfrm>
          <a:prstGeom prst="chevron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4526280"/>
            <a:ext cx="1691640" cy="566928"/>
          </a:xfrm>
          <a:prstGeom prst="roundRect">
            <a:avLst>
              <a:gd name="adj" fmla="val 12903"/>
            </a:avLst>
          </a:prstGeom>
          <a:solidFill>
            <a:srgbClr val="F4EE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68112" y="4727448"/>
            <a:ext cx="1545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2D91"/>
                </a:solidFill>
              </a:rPr>
              <a:t>Peak at f_chop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powerpoint/2010/main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08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separates real signal from contamination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spectral features are not automatically detector physics.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HYGIENE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grounded and ungrounded conditions without changing the optical setup.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chopper peak is the intentional signal. The 60 Hz and 120 Hz features are environmental contamination.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teaches the student to identify the origin of a spectral feature before attaching physical meaning to it.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is part of the measurement, not just a background setup detail.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grounded versus ungrounded and watch which peaks move or appear.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has to be interpreted. “Strong peak” is not enough - the student must know whether the feature comes from the detector, the modulation, or the environment.</a:t>
            </a:r>
            <a:endParaRPr lang="en-US" sz="128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4297680" y="4846320"/>
          <a:ext cx="38404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514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Interpretation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f_chop peak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intentional optical signal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/ 120 Hz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 pickup / hum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09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changes signal quality, not just signal size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question is whether the useful spectral feature rises faster than the nearby floor.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VS FLOOR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bias point, compare the chopper peak height to the local spectral floor near that frequency.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larger signal is useful only if it becomes easier to distinguish from the surrounding background.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teaches students to think in terms of detectability and measurement quality, not raw amplitude alone.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choice is therefore a tradeoff, not simply “higher is always better.”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peak and nearby floor at 0.5, 1.0, and 1.5 V.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quality depends on relative contrast. Better detector operation means better signal relative to the local background, not just a bigger number.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05840" y="4572000"/>
            <a:ext cx="384048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672584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signal quality ~ peak / nearby floor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preamp actually does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webinar toy model, the preamp is best understood as a measurement-chain conditioning stage.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PREAMP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current toy simulator, preamp gain acts like an ideal output-side voltage gain stage.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and detector-origin noise both scale with gain, so intrinsic detector SNR does not automatically improve.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practical role of the preamp is to bring the detector output into a useful range for the next instrument: lock-in, scope, analyzer, or DAQ.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mirrors why real test departments may always use preamps even when experimentalists remain cautious about added noise sources.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 preamp gain and watch the displayed voltage scale move into a more usable instrument range.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 is not “preamp makes detector better.” The lesson is “preamp helps the measurement chain use the detector output effectively.”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51560" y="4572000"/>
            <a:ext cx="20574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4672584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V_out = G · V_in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11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Oscilloscope view: the same measurement in time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spectrum and the scope are two views of the same detector output.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DOMAIN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69037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chopped detector response appears as structured AC behavior in time rather than as a spectral peak.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waveform also carries noise and any contamination that the bench introduces.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simulator reports RMS voltage, which is a compact bench quantity but not automatically pure optical signal.</a:t>
            </a:r>
            <a:pPr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63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63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student should use the scope and spectrum together and expect them to tell a consistent measurement story.</a:t>
            </a:r>
            <a:endParaRPr lang="en-US" sz="1630" dirty="0"/>
          </a:p>
        </p:txBody>
      </p:sp>
      <p:sp>
        <p:nvSpPr>
          <p:cNvPr id="20" name="Text 18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waveform, then compare grounded versus ungrounded or low bias versus high bias.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 voltage is useful because it compresses a noisy waveform into one measurable number. The caution is that RMS can include both wanted and unwanted contributions.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1051560" y="4572000"/>
            <a:ext cx="31089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4672584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V_rms = √[(1/N) Σ v_i²]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powerpoint/2010/main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8368"/>
            <a:ext cx="182880" cy="1417320"/>
          </a:xfrm>
          <a:prstGeom prst="rect">
            <a:avLst/>
          </a:prstGeom>
          <a:solidFill>
            <a:srgbClr val="662D91"/>
          </a:solidFill>
          <a:ln w="12700">
            <a:solidFill>
              <a:srgbClr val="662D9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6400800"/>
            <a:ext cx="10972800" cy="9525"/>
          </a:xfrm>
          <a:prstGeom prst="line">
            <a:avLst/>
          </a:prstGeom>
          <a:noFill/>
          <a:ln w="12700">
            <a:solidFill>
              <a:srgbClr val="F3F4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5109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BROOKS </a:t>
            </a:r>
            <a:pPr indent="0" marL="0">
              <a:buNone/>
            </a:pPr>
            <a:r>
              <a:rPr lang="en-US" sz="17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778240" y="64693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www.brooks-photonics.com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164592"/>
            <a:ext cx="4572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WEBINAR | 12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402336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optical input and compute absolute voltage responsivity</a:t>
            </a:r>
            <a:endParaRPr lang="en-US" sz="2450" dirty="0"/>
          </a:p>
        </p:txBody>
      </p:sp>
      <p:sp>
        <p:nvSpPr>
          <p:cNvPr id="11" name="Text 9"/>
          <p:cNvSpPr/>
          <p:nvPr/>
        </p:nvSpPr>
        <p:spPr>
          <a:xfrm>
            <a:off x="896112" y="768096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 slide: convert normalized voltage response into a true detector metric.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1234440"/>
            <a:ext cx="11018520" cy="4846320"/>
          </a:xfrm>
          <a:prstGeom prst="roundRect">
            <a:avLst>
              <a:gd name="adj" fmla="val 2264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1536192"/>
            <a:ext cx="29718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3529584"/>
            <a:ext cx="2971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1481328"/>
            <a:ext cx="1627632" cy="256032"/>
          </a:xfrm>
          <a:prstGeom prst="roundRect">
            <a:avLst>
              <a:gd name="adj" fmla="val 17857"/>
            </a:avLst>
          </a:prstGeom>
          <a:solidFill>
            <a:srgbClr val="F4EEF9"/>
          </a:solidFill>
          <a:ln w="12700">
            <a:solidFill>
              <a:srgbClr val="F4EE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1531620"/>
            <a:ext cx="1371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RESPONSIVITY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394192" y="170078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94192" y="3694176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" y="1828800"/>
            <a:ext cx="3931920" cy="2450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now we intentionally worked with normalized response because optical input had not yet been revealed.</a:t>
            </a:r>
            <a:pPr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toy simulator uses a hidden total incident optical power, so voltage responsivity can now be computed directly.</a:t>
            </a:r>
            <a:pPr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makes explicit that absolute responsivity cannot be obtained from electrical output alone - optical input is also required.</a:t>
            </a:r>
            <a:pPr indent="0" marL="0"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1550" b="1" dirty="0">
                <a:solidFill>
                  <a:srgbClr val="662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pPr indent="0" marL="0">
              <a:buNone/>
            </a:pPr>
            <a:r>
              <a:rPr lang="en-US" sz="15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closes the loop from bench observables to a detector performance metric.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1005840" y="4407408"/>
            <a:ext cx="224028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5568" y="4507992"/>
            <a:ext cx="2020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022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R_v = V_ph / P_incident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4956048"/>
            <a:ext cx="4343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6B7280"/>
                </a:solidFill>
              </a:rPr>
              <a:t>Hidden toy-sim input:  P_incident = 4.315 × 10^-7 W</a:t>
            </a:r>
            <a:endParaRPr lang="en-US" sz="112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4983480" y="4389120"/>
          <a:ext cx="3127248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62D9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 V/W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728 V/W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 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 µV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 V/W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8394192" y="1975104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measured photovoltage values and divide by the hidden total incident power.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94192" y="3959352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response teaches trend. Revealed optical input enables absolute voltage responsivity. That is the final payoff of the session.</a:t>
            </a:r>
            <a:endParaRPr lang="en-US" sz="12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Interactive MCT Test Bench Webinar</dc:title>
  <dc:subject>MCT Photoconductor Webinar</dc:subject>
  <dc:creator>OpenAI</dc:creator>
  <cp:lastModifiedBy>OpenAI</cp:lastModifiedBy>
  <cp:revision>1</cp:revision>
  <dcterms:created xsi:type="dcterms:W3CDTF">2026-04-05T15:39:13Z</dcterms:created>
  <dcterms:modified xsi:type="dcterms:W3CDTF">2026-04-05T15:39:13Z</dcterms:modified>
</cp:coreProperties>
</file>